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472" r:id="rId3"/>
    <p:sldId id="426" r:id="rId4"/>
    <p:sldId id="407" r:id="rId5"/>
    <p:sldId id="428" r:id="rId6"/>
    <p:sldId id="434" r:id="rId7"/>
    <p:sldId id="415" r:id="rId8"/>
    <p:sldId id="473" r:id="rId9"/>
    <p:sldId id="427" r:id="rId10"/>
  </p:sldIdLst>
  <p:sldSz cx="18288000" cy="10287000"/>
  <p:notesSz cx="68580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684158-E8C8-9BE0-21EB-718D906F94A5}" name="George Mount" initials="GM" userId="S::george@stringfestanalytics.com::22d0b802-afc6-4b8f-ba57-7a855d9692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rge Mount" initials="GM" lastIdx="9" clrIdx="0">
    <p:extLst>
      <p:ext uri="{19B8F6BF-5375-455C-9EA6-DF929625EA0E}">
        <p15:presenceInfo xmlns:p15="http://schemas.microsoft.com/office/powerpoint/2012/main" userId="57d2ab2a84d54c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338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78463" autoAdjust="0"/>
  </p:normalViewPr>
  <p:slideViewPr>
    <p:cSldViewPr>
      <p:cViewPr varScale="1">
        <p:scale>
          <a:sx n="46" d="100"/>
          <a:sy n="46" d="100"/>
        </p:scale>
        <p:origin x="48" y="23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98A70-FA8C-4354-959C-C70678AC9BC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500C5-13F7-48FC-8160-C29AECF6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5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49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29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5532-326F-4669-1CB2-DA7AFD783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669E7-8D85-DEB6-7D4D-FA8E8268D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F375F-294F-03AB-52EE-36A85AF9F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7E0FB-DBB2-3D20-1323-ADC2F3DB1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05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stringfestdata.gumroad.com/l/mxlais?layout=profile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42796" y="4850092"/>
            <a:ext cx="4745204" cy="54358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0" y="-3440159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Power Automate for Excel: Practical Workflow Walkthroughs</a:t>
            </a:r>
          </a:p>
        </p:txBody>
      </p:sp>
      <p:sp>
        <p:nvSpPr>
          <p:cNvPr id="2" name="AutoShape 2" descr="Home | Full Stack Modeller">
            <a:extLst>
              <a:ext uri="{FF2B5EF4-FFF2-40B4-BE49-F238E27FC236}">
                <a16:creationId xmlns:a16="http://schemas.microsoft.com/office/drawing/2014/main" id="{6CCAA77C-4E76-640C-066C-F3E39EE1AC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About me</a:t>
            </a:r>
          </a:p>
        </p:txBody>
      </p:sp>
      <p:pic>
        <p:nvPicPr>
          <p:cNvPr id="3" name="Picture 4" descr="Advancing into Analytics Cover Image">
            <a:extLst>
              <a:ext uri="{FF2B5EF4-FFF2-40B4-BE49-F238E27FC236}">
                <a16:creationId xmlns:a16="http://schemas.microsoft.com/office/drawing/2014/main" id="{588F684B-18EF-D76C-5F7B-15E4BAD60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8675" y="195638"/>
            <a:ext cx="3130385" cy="408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7E0F267-87DF-961E-1FAA-47FD4F27A5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691" y="6002696"/>
            <a:ext cx="7448309" cy="5462681"/>
          </a:xfrm>
          <a:prstGeom prst="rect">
            <a:avLst/>
          </a:prstGeom>
        </p:spPr>
      </p:pic>
      <p:pic>
        <p:nvPicPr>
          <p:cNvPr id="1026" name="Picture 2" descr="Modern data analytics in Excel book cover">
            <a:extLst>
              <a:ext uri="{FF2B5EF4-FFF2-40B4-BE49-F238E27FC236}">
                <a16:creationId xmlns:a16="http://schemas.microsoft.com/office/drawing/2014/main" id="{874ADA5E-A7A7-1D02-C728-513187DE1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829" y="1736915"/>
            <a:ext cx="3437261" cy="450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icrosoft Most Valuable Professional - Wikipedia">
            <a:extLst>
              <a:ext uri="{FF2B5EF4-FFF2-40B4-BE49-F238E27FC236}">
                <a16:creationId xmlns:a16="http://schemas.microsoft.com/office/drawing/2014/main" id="{36C71929-5967-B93D-05FE-E330D621C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42" y="7832951"/>
            <a:ext cx="5057775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Global Excel Summit (9-11 February 2022) - Microsoft Excel Conference">
            <a:extLst>
              <a:ext uri="{FF2B5EF4-FFF2-40B4-BE49-F238E27FC236}">
                <a16:creationId xmlns:a16="http://schemas.microsoft.com/office/drawing/2014/main" id="{A4A37758-F92B-49D0-9144-77DE1A40A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7664" y="4795613"/>
            <a:ext cx="2901909" cy="2901909"/>
          </a:xfrm>
          <a:prstGeom prst="rect">
            <a:avLst/>
          </a:prstGeom>
        </p:spPr>
      </p:pic>
      <p:pic>
        <p:nvPicPr>
          <p:cNvPr id="7" name="Picture 6" descr="linkedinlearninginstructor #linkedinlearning | Thais Cooke | 80 comments">
            <a:extLst>
              <a:ext uri="{FF2B5EF4-FFF2-40B4-BE49-F238E27FC236}">
                <a16:creationId xmlns:a16="http://schemas.microsoft.com/office/drawing/2014/main" id="{C1E81082-DC04-E8C8-AF35-69591438D9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3407" y="4935896"/>
            <a:ext cx="5185833" cy="2133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DDDC47-548D-1287-3489-8B5D9DA3C477}"/>
              </a:ext>
            </a:extLst>
          </p:cNvPr>
          <p:cNvSpPr txBox="1"/>
          <p:nvPr/>
        </p:nvSpPr>
        <p:spPr>
          <a:xfrm>
            <a:off x="849234" y="2485315"/>
            <a:ext cx="66183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 help Excel users move from fragile spreadsheets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to confident, scalable analysis.</a:t>
            </a:r>
          </a:p>
        </p:txBody>
      </p:sp>
    </p:spTree>
    <p:extLst>
      <p:ext uri="{BB962C8B-B14F-4D97-AF65-F5344CB8AC3E}">
        <p14:creationId xmlns:p14="http://schemas.microsoft.com/office/powerpoint/2010/main" val="61235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Objectives for this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Build your first Power Automate workflow for Excel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Reformat the flow’s output with Power </a:t>
            </a:r>
            <a:r>
              <a:rPr lang="en-US" sz="4200" dirty="0" err="1">
                <a:solidFill>
                  <a:srgbClr val="707070"/>
                </a:solidFill>
                <a:latin typeface="Pragmatica" panose="020B0403040502020204" pitchFamily="34" charset="0"/>
              </a:rPr>
              <a:t>Fx</a:t>
            </a: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Getting help building flows with Copilot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7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4881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First flow with Power Automate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Power Automate templates for Excel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Create clock in/clock out workflow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first-flow.xlsx</a:t>
            </a:r>
          </a:p>
        </p:txBody>
      </p:sp>
    </p:spTree>
    <p:extLst>
      <p:ext uri="{BB962C8B-B14F-4D97-AF65-F5344CB8AC3E}">
        <p14:creationId xmlns:p14="http://schemas.microsoft.com/office/powerpoint/2010/main" val="3871531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6936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Customizing outputs with Power </a:t>
            </a:r>
            <a:r>
              <a:rPr lang="en-US" sz="6000" b="1" dirty="0" err="1">
                <a:solidFill>
                  <a:srgbClr val="CF3338"/>
                </a:solidFill>
                <a:latin typeface="Pragmatica" panose="020B0403040502020204" pitchFamily="34" charset="0"/>
              </a:rPr>
              <a:t>Fx</a:t>
            </a:r>
            <a:endParaRPr lang="en-US" sz="6000" b="1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Continue with the previous example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How can we improve appearance of outputs in Excel? </a:t>
            </a:r>
            <a:endParaRPr lang="en-US" sz="3200" kern="100" dirty="0">
              <a:solidFill>
                <a:srgbClr val="CF3338"/>
              </a:solidFill>
              <a:effectLst/>
              <a:latin typeface="Pragmatica" panose="020B04030405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Resource: https://stringfestanalytics.com/power-automate-for-excel-how-to-understand-the-power-fx-programming-language/</a:t>
            </a:r>
            <a:endParaRPr lang="en-US" sz="6000" dirty="0">
              <a:solidFill>
                <a:srgbClr val="CF3338"/>
              </a:solidFill>
              <a:latin typeface="Pragmatica" panose="020B04030405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7922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679BB-E487-A9E3-1278-DBD7FB7F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8E3D40-A823-8428-6682-B724027EAF41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24E154-15C4-0B23-E9C5-29E2DD4973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343823-9545-2632-2777-4994B59C3581}"/>
              </a:ext>
            </a:extLst>
          </p:cNvPr>
          <p:cNvSpPr txBox="1"/>
          <p:nvPr/>
        </p:nvSpPr>
        <p:spPr>
          <a:xfrm>
            <a:off x="260431" y="329879"/>
            <a:ext cx="8906720" cy="6791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Building flows with Copilot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Get AI assistance to build a flow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Create a monthly email/post to Teams based on data in a workbook</a:t>
            </a:r>
            <a:endParaRPr lang="en-US" sz="3200" kern="100" dirty="0">
              <a:solidFill>
                <a:srgbClr val="CF3338"/>
              </a:solidFill>
              <a:effectLst/>
              <a:latin typeface="Pragmatica" panose="020B04030405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power-automate-copilot.xlsx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Resource: https://stringfestanalytics.com/power-automate-for-excel-how-to-build-flows-with-copilot/</a:t>
            </a:r>
            <a:endParaRPr lang="en-US" sz="6000" dirty="0">
              <a:solidFill>
                <a:srgbClr val="CF3338"/>
              </a:solidFill>
              <a:latin typeface="Pragmatica" panose="020B04030405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45953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6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5AF1E-B534-ED60-A209-D45F685A7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D241B68-521F-8675-8CC5-582FD7BAE846}"/>
              </a:ext>
            </a:extLst>
          </p:cNvPr>
          <p:cNvSpPr txBox="1"/>
          <p:nvPr/>
        </p:nvSpPr>
        <p:spPr>
          <a:xfrm>
            <a:off x="520861" y="170082"/>
            <a:ext cx="11979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0DA09E-07D8-E03F-9795-0758159FB25B}"/>
              </a:ext>
            </a:extLst>
          </p:cNvPr>
          <p:cNvSpPr txBox="1"/>
          <p:nvPr/>
        </p:nvSpPr>
        <p:spPr>
          <a:xfrm>
            <a:off x="520861" y="3191948"/>
            <a:ext cx="143931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Example files and resources will stay up at link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A recording will be available after the event inside the membership: </a:t>
            </a:r>
            <a:r>
              <a:rPr lang="en-US" sz="4200" dirty="0">
                <a:solidFill>
                  <a:srgbClr val="CF3338"/>
                </a:solidFill>
                <a:latin typeface="Pragmatica" panose="020B04030405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https://stringfestdata.gumroad.com/l/mxlais?layout=profile</a:t>
            </a:r>
            <a:r>
              <a:rPr lang="en-US" sz="4200" dirty="0">
                <a:solidFill>
                  <a:srgbClr val="CF3338"/>
                </a:solidFill>
                <a:latin typeface="Pragmatica" panose="020B0403040502020204" pitchFamily="34" charset="0"/>
              </a:rPr>
              <a:t> </a:t>
            </a:r>
          </a:p>
          <a:p>
            <a:pPr marL="1143000" lvl="1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First week free</a:t>
            </a:r>
          </a:p>
          <a:p>
            <a:pPr marL="1143000" lvl="1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First month for $1 with email promocode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6AB4293D-85CC-94D1-D765-0CF498C9EE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03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23C9-D5F7-C820-78B9-E169BDF2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971779-1F50-1702-DEC1-87CD482189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C4C7B-C529-5329-03AC-796804551DC1}"/>
              </a:ext>
            </a:extLst>
          </p:cNvPr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5782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2569</TotalTime>
  <Words>222</Words>
  <Application>Microsoft Office PowerPoint</Application>
  <PresentationFormat>Custom</PresentationFormat>
  <Paragraphs>43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Normafixed Tryout</vt:lpstr>
      <vt:lpstr>Arial</vt:lpstr>
      <vt:lpstr>Calibri</vt:lpstr>
      <vt:lpstr>Aliens &amp; cows</vt:lpstr>
      <vt:lpstr>Consolas</vt:lpstr>
      <vt:lpstr>Pragmatica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excel-statistics-for-business-analytics</dc:title>
  <dc:creator>User</dc:creator>
  <cp:lastModifiedBy>George Mount</cp:lastModifiedBy>
  <cp:revision>226</cp:revision>
  <dcterms:created xsi:type="dcterms:W3CDTF">2006-08-16T00:00:00Z</dcterms:created>
  <dcterms:modified xsi:type="dcterms:W3CDTF">2026-03-09T13:25:02Z</dcterms:modified>
  <dc:identifier>DADurESpNu8</dc:identifier>
</cp:coreProperties>
</file>